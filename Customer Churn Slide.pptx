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7"/>
  </p:notesMasterIdLst>
  <p:handoutMasterIdLst>
    <p:handoutMasterId r:id="rId18"/>
  </p:handoutMasterIdLst>
  <p:sldIdLst>
    <p:sldId id="289" r:id="rId5"/>
    <p:sldId id="288" r:id="rId6"/>
    <p:sldId id="276" r:id="rId7"/>
    <p:sldId id="283" r:id="rId8"/>
    <p:sldId id="257" r:id="rId9"/>
    <p:sldId id="261" r:id="rId10"/>
    <p:sldId id="290" r:id="rId11"/>
    <p:sldId id="291" r:id="rId12"/>
    <p:sldId id="292" r:id="rId13"/>
    <p:sldId id="263" r:id="rId14"/>
    <p:sldId id="293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94" autoAdjust="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EBDF2-D0E9-E600-458E-7F403D0C4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F137D-15D8-A4C9-91DB-7B74D2152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2E649-E8DA-824F-9BB7-91E3A4AF3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93B80-589A-52B4-AB05-F8B68D9EA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28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95DC8-F56E-EB08-7345-1D6A18221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19E88-D61A-D71F-8A62-9B7ECFE0A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4EC96-BDD1-4357-3540-2DA45D22C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2319A-3E2F-9D3C-B696-3547396CE3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7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BC201-3106-8127-1DB3-E9BC7C94F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EC05F-4AC0-0413-F0DE-6BD495FB7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3AF7A-F56F-3E4B-755E-F6ABF4653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8ED0-7E4D-E7A2-0167-4657EF8AE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15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A8BC0-D215-450B-0B32-93D957BBB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79865-1B6A-6C8D-5851-EBF122DFF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93FF3-FE0D-93B6-EFD3-00E424A00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CF69B-1597-A756-EA80-18CDCD776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45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7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355955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8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7" r:id="rId18"/>
    <p:sldLayoutId id="2147483691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hyperlink" Target="Kaggl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customer-churn-app-m2ov3ycre74zmpxaqye4app.streamlit.app/" TargetMode="External"/><Relationship Id="rId5" Type="http://schemas.openxmlformats.org/officeDocument/2006/relationships/hyperlink" Target="https://github.com/Remah-data/customer-churn-app" TargetMode="External"/><Relationship Id="rId4" Type="http://schemas.openxmlformats.org/officeDocument/2006/relationships/hyperlink" Target="Linked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0174" y="2056968"/>
            <a:ext cx="5427584" cy="1383607"/>
          </a:xfrm>
        </p:spPr>
        <p:txBody>
          <a:bodyPr/>
          <a:lstStyle/>
          <a:p>
            <a:r>
              <a:rPr lang="en-AE" sz="4000" b="1" dirty="0">
                <a:solidFill>
                  <a:schemeClr val="tx1"/>
                </a:solidFill>
              </a:rPr>
              <a:t>Customer Churn</a:t>
            </a:r>
            <a:br>
              <a:rPr lang="en-AE" sz="4000" b="1" dirty="0">
                <a:solidFill>
                  <a:schemeClr val="tx1"/>
                </a:solidFill>
              </a:rPr>
            </a:br>
            <a:r>
              <a:rPr lang="en-AE" sz="4000" b="1" dirty="0">
                <a:solidFill>
                  <a:schemeClr val="tx1"/>
                </a:solidFill>
              </a:rPr>
              <a:t>            project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399392-AE30-2ADB-FCF3-8EBCB0D9AB37}"/>
              </a:ext>
            </a:extLst>
          </p:cNvPr>
          <p:cNvSpPr txBox="1"/>
          <p:nvPr/>
        </p:nvSpPr>
        <p:spPr>
          <a:xfrm>
            <a:off x="140391" y="6488668"/>
            <a:ext cx="2763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b="1" dirty="0">
                <a:latin typeface="Bookman Old Style" panose="02050604050505020204" pitchFamily="18" charset="0"/>
              </a:rPr>
              <a:t>By : Remah Ramadan</a:t>
            </a:r>
            <a:endParaRPr lang="en-US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b="1" dirty="0">
                <a:latin typeface="Bookman Old Style" panose="02050604050505020204" pitchFamily="18" charset="0"/>
              </a:rPr>
              <a:t>Project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b="1" dirty="0">
                <a:latin typeface="Bookman Old Style" panose="02050604050505020204" pitchFamily="18" charset="0"/>
              </a:rPr>
              <a:t>Project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b="1" dirty="0">
                <a:latin typeface="Bookman Old Style" panose="02050604050505020204" pitchFamily="18" charset="0"/>
              </a:rPr>
              <a:t>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b="1" dirty="0">
                <a:latin typeface="Bookman Old Style" panose="02050604050505020204" pitchFamily="18" charset="0"/>
              </a:rPr>
              <a:t>Machine Learning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b="1" dirty="0">
                <a:latin typeface="Bookman Old Style" panose="02050604050505020204" pitchFamily="18" charset="0"/>
              </a:rPr>
              <a:t>Business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E" b="1" dirty="0">
                <a:latin typeface="Bookman Old Style" panose="02050604050505020204" pitchFamily="18" charset="0"/>
              </a:rPr>
              <a:t>Expected Business Impact</a:t>
            </a:r>
            <a:endParaRPr lang="en-US" b="1" dirty="0">
              <a:latin typeface="Bookman Old Style" panose="02050604050505020204" pitchFamily="18" charset="0"/>
            </a:endParaRP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3671"/>
            <a:ext cx="9144000" cy="675696"/>
          </a:xfrm>
          <a:noFill/>
        </p:spPr>
        <p:txBody>
          <a:bodyPr anchor="b"/>
          <a:lstStyle/>
          <a:p>
            <a:r>
              <a:rPr lang="en-US" b="1" dirty="0">
                <a:latin typeface="Bookman Old Style" panose="02050604050505020204" pitchFamily="18" charset="0"/>
              </a:rPr>
              <a:t>Project Overview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1E5B31-C118-69B5-97D2-3D8E6377F235}"/>
              </a:ext>
            </a:extLst>
          </p:cNvPr>
          <p:cNvSpPr txBox="1"/>
          <p:nvPr/>
        </p:nvSpPr>
        <p:spPr>
          <a:xfrm>
            <a:off x="1815153" y="2091566"/>
            <a:ext cx="9143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ookman Old Style" panose="02050604050505020204" pitchFamily="18" charset="0"/>
              </a:rPr>
              <a:t>This project focuses on analyzing customer behavior and predicting churn using machine learning techniques.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The goal is to help banks proactively identify customers at risk of leaving and take data-driven retention actions.</a:t>
            </a:r>
          </a:p>
        </p:txBody>
      </p:sp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9683" y="1470015"/>
            <a:ext cx="6974005" cy="754570"/>
          </a:xfrm>
          <a:noFill/>
        </p:spPr>
        <p:txBody>
          <a:bodyPr>
            <a:noAutofit/>
          </a:bodyPr>
          <a:lstStyle/>
          <a:p>
            <a:r>
              <a:rPr lang="en-AE" b="1" dirty="0">
                <a:latin typeface="Bookman Old Style" panose="02050604050505020204" pitchFamily="18" charset="0"/>
              </a:rPr>
              <a:t>Project Objectives</a:t>
            </a:r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3F7FC6-BA33-9062-5B85-E6F395B9F64E}"/>
              </a:ext>
            </a:extLst>
          </p:cNvPr>
          <p:cNvSpPr txBox="1"/>
          <p:nvPr/>
        </p:nvSpPr>
        <p:spPr>
          <a:xfrm>
            <a:off x="1241946" y="2982035"/>
            <a:ext cx="644174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Understand key factors influencing customer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Build a predictive machine learning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Provide an interactive decision-support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Reduce churn-related financial losses</a:t>
            </a:r>
          </a:p>
        </p:txBody>
      </p:sp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The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AE" b="1" dirty="0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Insights</a:t>
            </a:r>
            <a:br>
              <a:rPr lang="en-AE" b="1" dirty="0">
                <a:latin typeface="Bookman Old Style" panose="02050604050505020204" pitchFamily="18" charset="0"/>
              </a:rPr>
            </a:b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38355" y="1148938"/>
            <a:ext cx="6941703" cy="625271"/>
          </a:xfrm>
          <a:noFill/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Bookman Old Style" panose="02050604050505020204" pitchFamily="18" charset="0"/>
              </a:rPr>
              <a:t>Inactive customers show a significantly higher likelihood of churn compared to active customers.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2421F-6076-8DCB-A844-74D5DC09DB33}"/>
              </a:ext>
            </a:extLst>
          </p:cNvPr>
          <p:cNvSpPr txBox="1"/>
          <p:nvPr/>
        </p:nvSpPr>
        <p:spPr>
          <a:xfrm>
            <a:off x="3835021" y="537925"/>
            <a:ext cx="541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b="1" dirty="0">
                <a:latin typeface="Bookman Old Style" panose="02050604050505020204" pitchFamily="18" charset="0"/>
              </a:rPr>
              <a:t>1- Customer Activity Matters Most</a:t>
            </a:r>
            <a:endParaRPr lang="en-US" b="1" dirty="0">
              <a:latin typeface="Bookman Old Style" panose="02050604050505020204" pitchFamily="18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C628968-0C59-E8EE-BFB5-41B974617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021" y="2015890"/>
            <a:ext cx="7079926" cy="40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2561E-B09B-A9FF-8905-F74985E2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5CEA547F-CB6D-C980-CF96-CCBA01EE100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F01DE-EB1C-851F-4E1F-5737BC64A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01877" y="1039756"/>
            <a:ext cx="6941703" cy="78904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Bookman Old Style" panose="02050604050505020204" pitchFamily="18" charset="0"/>
              </a:rPr>
              <a:t>Customers with multiple banking products are less likely to churn.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5ADDC8-74D2-9A4F-2013-080808A99424}"/>
              </a:ext>
            </a:extLst>
          </p:cNvPr>
          <p:cNvSpPr txBox="1"/>
          <p:nvPr/>
        </p:nvSpPr>
        <p:spPr>
          <a:xfrm>
            <a:off x="3603009" y="537925"/>
            <a:ext cx="6127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b="1" dirty="0">
                <a:latin typeface="Bookman Old Style" panose="02050604050505020204" pitchFamily="18" charset="0"/>
              </a:rPr>
              <a:t>2- Product Engag</a:t>
            </a:r>
            <a:r>
              <a:rPr lang="en-US" b="1" dirty="0">
                <a:latin typeface="Bookman Old Style" panose="02050604050505020204" pitchFamily="18" charset="0"/>
              </a:rPr>
              <a:t>e</a:t>
            </a:r>
            <a:r>
              <a:rPr lang="en-AE" b="1" dirty="0">
                <a:latin typeface="Bookman Old Style" panose="02050604050505020204" pitchFamily="18" charset="0"/>
              </a:rPr>
              <a:t>ment Reduces Churn</a:t>
            </a:r>
            <a:endParaRPr lang="en-US" b="1" dirty="0">
              <a:latin typeface="Bookman Old Style" panose="02050604050505020204" pitchFamily="18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540F311A-9B48-032A-390D-08316C8FC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052" y="2252900"/>
            <a:ext cx="7727043" cy="40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100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39819-E437-0307-A7AF-D8E2DF83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DD372E67-8899-A4F0-2E57-B83E69AA385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EE6A4-5B0A-7883-19F3-B63191A38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76241" y="1033569"/>
            <a:ext cx="6941703" cy="76174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Bookman Old Style" panose="02050604050505020204" pitchFamily="18" charset="0"/>
              </a:rPr>
              <a:t>Certain age groups show higher churn tendencies, indicating the need for age-specific retention strategies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249921-4A02-436F-771C-61A4AEF7ED8F}"/>
              </a:ext>
            </a:extLst>
          </p:cNvPr>
          <p:cNvSpPr txBox="1"/>
          <p:nvPr/>
        </p:nvSpPr>
        <p:spPr>
          <a:xfrm>
            <a:off x="3801040" y="537925"/>
            <a:ext cx="5117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000" b="1" dirty="0">
                <a:latin typeface="Bookman Old Style" panose="02050604050505020204" pitchFamily="18" charset="0"/>
              </a:rPr>
              <a:t>3- Age Plays a Critical Role</a:t>
            </a:r>
            <a:endParaRPr lang="en-US" sz="2000" b="1" dirty="0">
              <a:latin typeface="Bookman Old Style" panose="020506040505050202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204BCB5-D83E-ECD9-30EF-1DB18D0E7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728326"/>
            <a:ext cx="6417141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7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FC604A6-CBD0-94A6-B990-36C8F6AB0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622" y="1990863"/>
            <a:ext cx="6941703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5704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8600-E427-07F6-0A39-1229E3C76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5E8091FA-0BE2-D82B-B856-2EA4013D61B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24400-297C-A5E7-F8E2-EAE970173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01040" y="1033569"/>
            <a:ext cx="7314923" cy="761748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Bookman Old Style" panose="02050604050505020204" pitchFamily="18" charset="0"/>
              </a:rPr>
              <a:t>The machine learning model successfully identifies high-risk customers using behavioral and financial attributes.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E6CBD0-3A11-5B1D-845D-814A3F821258}"/>
              </a:ext>
            </a:extLst>
          </p:cNvPr>
          <p:cNvSpPr txBox="1"/>
          <p:nvPr/>
        </p:nvSpPr>
        <p:spPr>
          <a:xfrm>
            <a:off x="3801040" y="537925"/>
            <a:ext cx="5117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E" sz="2000" b="1" dirty="0">
                <a:latin typeface="Bookman Old Style" panose="02050604050505020204" pitchFamily="18" charset="0"/>
              </a:rPr>
              <a:t>Machine Learning Insight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8D72C6-DA7D-F19C-3792-643DEF13DB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858" y="1802777"/>
            <a:ext cx="7922387" cy="471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59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05469"/>
            <a:ext cx="6645965" cy="585219"/>
          </a:xfrm>
          <a:noFill/>
        </p:spPr>
        <p:txBody>
          <a:bodyPr/>
          <a:lstStyle/>
          <a:p>
            <a:r>
              <a:rPr lang="en-AE" sz="2800" b="1" dirty="0">
                <a:latin typeface="Bookman Old Style" panose="02050604050505020204" pitchFamily="18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8076" y="2424303"/>
            <a:ext cx="6436056" cy="221593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Launch targeted retention campaigns for inactive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Offer personalized product bundles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Monitor high-risk customers in real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Integrate churn predictions into CRM systems</a:t>
            </a:r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4CBB3-F8BF-FE06-0966-1EADC44F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82E74-C4EE-9B82-E22B-DF1000EC6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79" y="1514902"/>
            <a:ext cx="6645965" cy="585219"/>
          </a:xfrm>
          <a:noFill/>
        </p:spPr>
        <p:txBody>
          <a:bodyPr/>
          <a:lstStyle/>
          <a:p>
            <a:r>
              <a:rPr lang="en-AE" sz="2800" b="1" dirty="0">
                <a:latin typeface="Bookman Old Style" panose="02050604050505020204" pitchFamily="18" charset="0"/>
              </a:rPr>
              <a:t>Expected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85163-8073-5740-FA13-77BF6C5A7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8379" y="2656315"/>
            <a:ext cx="6436056" cy="221593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Reduced customer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Improved customer satisfaction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Increased customer lifetime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Stronger data-driven decision making</a:t>
            </a:r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D8434BB7-AA82-1F56-8583-000E5E9718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191470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3571" y="2630367"/>
            <a:ext cx="4902843" cy="829340"/>
          </a:xfrm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159" y="3772715"/>
            <a:ext cx="7219665" cy="1753221"/>
          </a:xfrm>
          <a:noFill/>
        </p:spPr>
        <p:txBody>
          <a:bodyPr anchor="t">
            <a:normAutofit/>
          </a:bodyPr>
          <a:lstStyle/>
          <a:p>
            <a:r>
              <a:rPr lang="en-US" sz="1600" dirty="0"/>
              <a:t>LinkedIn : </a:t>
            </a:r>
            <a:r>
              <a:rPr lang="en-US" sz="1600" dirty="0">
                <a:hlinkClick r:id="rId4"/>
              </a:rPr>
              <a:t>https://bit.ly/4lDIiPy</a:t>
            </a:r>
            <a:endParaRPr lang="en-US" sz="1600" dirty="0"/>
          </a:p>
          <a:p>
            <a:r>
              <a:rPr lang="en-US" sz="1600" dirty="0"/>
              <a:t>GitHub : </a:t>
            </a:r>
            <a:r>
              <a:rPr lang="en-US" sz="1600" dirty="0">
                <a:hlinkClick r:id="rId5"/>
              </a:rPr>
              <a:t>https://github.com/Remah-data/customer-churn-app</a:t>
            </a:r>
            <a:endParaRPr lang="en-US" sz="1600" dirty="0"/>
          </a:p>
          <a:p>
            <a:r>
              <a:rPr lang="en-US" sz="1600" dirty="0"/>
              <a:t>Streamlit app : </a:t>
            </a:r>
            <a:r>
              <a:rPr lang="en-US" sz="1600" dirty="0">
                <a:hlinkClick r:id="rId6"/>
              </a:rPr>
              <a:t>https://customer-churn-app-m2ov3ycre74zmpxaqye4app.streamlit.app/</a:t>
            </a:r>
            <a:endParaRPr lang="en-US" sz="1600" dirty="0"/>
          </a:p>
          <a:p>
            <a:r>
              <a:rPr lang="en-US" sz="1600" dirty="0"/>
              <a:t>Kaggel : </a:t>
            </a:r>
            <a:r>
              <a:rPr lang="en-US" sz="1600" dirty="0">
                <a:hlinkClick r:id="rId7"/>
              </a:rPr>
              <a:t>https://www.kaggle.com/datasets/remahramadan10/customer-churn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{0926049B-C2E8-4A9A-9EFA-DB9258CDA81E}TF020710ce-b2a3-4743-8ec4-0abcd2574951ef9f6aa4_win32-415a623b9e9a</Template>
  <TotalTime>194</TotalTime>
  <Words>265</Words>
  <Application>Microsoft Office PowerPoint</Application>
  <PresentationFormat>Widescreen</PresentationFormat>
  <Paragraphs>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Arial Unicode MS</vt:lpstr>
      <vt:lpstr>Bookman Old Style</vt:lpstr>
      <vt:lpstr>Calibri</vt:lpstr>
      <vt:lpstr>Univers Condensed Light</vt:lpstr>
      <vt:lpstr>Walbaum Display Light</vt:lpstr>
      <vt:lpstr>AngleLinesVTI</vt:lpstr>
      <vt:lpstr>Customer Churn             project</vt:lpstr>
      <vt:lpstr>AGENDA</vt:lpstr>
      <vt:lpstr>Project Overview</vt:lpstr>
      <vt:lpstr>Project Objectives</vt:lpstr>
      <vt:lpstr>The Insights  </vt:lpstr>
      <vt:lpstr>PowerPoint Presentation</vt:lpstr>
      <vt:lpstr>PowerPoint Presentation</vt:lpstr>
      <vt:lpstr>PowerPoint Presentation</vt:lpstr>
      <vt:lpstr>PowerPoint Presentation</vt:lpstr>
      <vt:lpstr>Business Recommendations</vt:lpstr>
      <vt:lpstr>Expected Business Impact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Remah Ramadan</dc:creator>
  <cp:lastModifiedBy>Remah Ramadan</cp:lastModifiedBy>
  <cp:revision>4</cp:revision>
  <dcterms:created xsi:type="dcterms:W3CDTF">2025-12-30T22:01:15Z</dcterms:created>
  <dcterms:modified xsi:type="dcterms:W3CDTF">2026-01-02T23:52:28Z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